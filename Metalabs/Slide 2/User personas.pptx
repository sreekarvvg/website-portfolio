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3ec3608b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3ec3608b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3ec526773e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3ec526773e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ec526773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ec526773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ec526773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ec526773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13ec526773e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13ec526773e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3ec526773e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3ec526773e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3ec526773e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3ec526773e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3ec526773e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13ec526773e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3ec526773e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3ec526773e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spreadsheets/d/1_M5OJ0cLPi954MEIgNHZOwuEknBdaupw/edit?usp=sharing&amp;ouid=118260803921871489982&amp;rtpof=true&amp;sd=true" TargetMode="External"/><Relationship Id="rId4" Type="http://schemas.openxmlformats.org/officeDocument/2006/relationships/hyperlink" Target="https://docs.google.com/spreadsheets/d/1_M5OJ0cLPi954MEIgNHZOwuEknBdaupw/edit?usp=sharing&amp;ouid=118260803921871489982&amp;rtpof=true&amp;sd=true" TargetMode="External"/><Relationship Id="rId9" Type="http://schemas.openxmlformats.org/officeDocument/2006/relationships/hyperlink" Target="https://docs.google.com/spreadsheets/d/1_M5OJ0cLPi954MEIgNHZOwuEknBdaupw/edit?usp=sharing&amp;ouid=118260803921871489982&amp;rtpof=true&amp;sd=true" TargetMode="External"/><Relationship Id="rId5" Type="http://schemas.openxmlformats.org/officeDocument/2006/relationships/hyperlink" Target="https://drive.google.com/file/d/1NvZ1RdlJnKwJg0pGzfxWuvnys9GGzUiV/view?usp=sharing" TargetMode="External"/><Relationship Id="rId6" Type="http://schemas.openxmlformats.org/officeDocument/2006/relationships/hyperlink" Target="https://drive.google.com/file/d/1G29EreTXoV5Ha01Qs3yI3o_SWOqZXhEg/view?usp=sharing" TargetMode="External"/><Relationship Id="rId7" Type="http://schemas.openxmlformats.org/officeDocument/2006/relationships/hyperlink" Target="https://drive.google.com/file/d/1Wh10RqN7YebRVDDgOl1XRmWurQCGenBJ/view?usp=sharing" TargetMode="External"/><Relationship Id="rId8" Type="http://schemas.openxmlformats.org/officeDocument/2006/relationships/hyperlink" Target="https://docs.google.com/spreadsheets/d/1fj7PYic89SjKL4DuuoFd68ogm5O5rUjO/edit?usp=sharing&amp;ouid=118260803921871489982&amp;rtpof=true&amp;sd=true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drive.google.com/file/d/1-p6dyVNpTfquKwclNL-wSzP9a6DWIFrj/view?usp=sharing" TargetMode="External"/><Relationship Id="rId4" Type="http://schemas.openxmlformats.org/officeDocument/2006/relationships/hyperlink" Target="https://drive.google.com/file/d/1eh8U_EmmdMS3RavHYyrKoDIvy6BxElqF/view?usp=sharing" TargetMode="External"/><Relationship Id="rId10" Type="http://schemas.openxmlformats.org/officeDocument/2006/relationships/hyperlink" Target="https://docs.google.com/spreadsheets/d/1FUrZHhpBjihhZYnhP5mIBVlNoRdTEZ2F/edit?usp=sharing&amp;ouid=118260803921871489982&amp;rtpof=true&amp;sd=true" TargetMode="External"/><Relationship Id="rId9" Type="http://schemas.openxmlformats.org/officeDocument/2006/relationships/hyperlink" Target="https://docs.google.com/spreadsheets/d/1fj7PYic89SjKL4DuuoFd68ogm5O5rUjO/edit?usp=sharing&amp;ouid=118260803921871489982&amp;rtpof=true&amp;sd=true" TargetMode="External"/><Relationship Id="rId5" Type="http://schemas.openxmlformats.org/officeDocument/2006/relationships/hyperlink" Target="https://drive.google.com/file/d/1eh8U_EmmdMS3RavHYyrKoDIvy6BxElqF/view?usp=sharing" TargetMode="External"/><Relationship Id="rId6" Type="http://schemas.openxmlformats.org/officeDocument/2006/relationships/hyperlink" Target="https://docs.google.com/spreadsheets/d/1x6z1GkThVtKOH96NQn7YBhrPzXcJUkLI/edit?usp=sharing&amp;ouid=118260803921871489982&amp;rtpof=true&amp;sd=true" TargetMode="External"/><Relationship Id="rId7" Type="http://schemas.openxmlformats.org/officeDocument/2006/relationships/hyperlink" Target="https://docs.google.com/spreadsheets/d/1FUrZHhpBjihhZYnhP5mIBVlNoRdTEZ2F/edit?usp=sharing&amp;ouid=118260803921871489982&amp;rtpof=true&amp;sd=true" TargetMode="External"/><Relationship Id="rId8" Type="http://schemas.openxmlformats.org/officeDocument/2006/relationships/hyperlink" Target="https://drive.google.com/file/d/1fQhQaF3mIk-N9pMx3EDCMltCnA4IzAns/view?usp=sharing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ocs.google.com/spreadsheets/d/1ZUb60e7rkuiF2P_9B9Cg2uve_33DaMNy/edit?usp=sharing&amp;ouid=118260803921871489982&amp;rtpof=true&amp;sd=true" TargetMode="External"/><Relationship Id="rId4" Type="http://schemas.openxmlformats.org/officeDocument/2006/relationships/hyperlink" Target="https://docs.google.com/spreadsheets/d/13_0dRMkci_6sduYO3NvG6lDw-VChsB3f/edit?usp=sharing&amp;ouid=118260803921871489982&amp;rtpof=true&amp;sd=true" TargetMode="External"/><Relationship Id="rId10" Type="http://schemas.openxmlformats.org/officeDocument/2006/relationships/hyperlink" Target="https://drive.google.com/file/d/18_tCSkHBhYsigyStgITfZcCT06LHFBKC/view?usp=sharing" TargetMode="External"/><Relationship Id="rId9" Type="http://schemas.openxmlformats.org/officeDocument/2006/relationships/hyperlink" Target="https://drive.google.com/file/d/1xGfwYsL-Zh-E1AyYth7aNA01fj04BI-c/view?usp=sharing" TargetMode="External"/><Relationship Id="rId5" Type="http://schemas.openxmlformats.org/officeDocument/2006/relationships/hyperlink" Target="https://docs.google.com/spreadsheets/d/1oced8QOkimq_PL3x_Dcu1UJrzJVd1NT4/edit?usp=sharing&amp;ouid=118260803921871489982&amp;rtpof=true&amp;sd=true" TargetMode="External"/><Relationship Id="rId6" Type="http://schemas.openxmlformats.org/officeDocument/2006/relationships/hyperlink" Target="https://drive.google.com/file/d/1zYh7ekFU2wzpmQ1ZssYuBYRKwM41whp3/view?usp=sharing" TargetMode="External"/><Relationship Id="rId7" Type="http://schemas.openxmlformats.org/officeDocument/2006/relationships/hyperlink" Target="https://drive.google.com/file/d/1enpBJIO7GUGd5pts6KeMBgzc9Z-8DjDI/view?usp=sharing" TargetMode="External"/><Relationship Id="rId8" Type="http://schemas.openxmlformats.org/officeDocument/2006/relationships/hyperlink" Target="https://drive.google.com/file/d/1IfmoxNV1v1arxGTL_2mT-pKwCCfJRFbU/view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file/d/1RT0gsyg9CHWdC1tbZiaIV1Bj5fwXclDQ/view?usp=sharing" TargetMode="External"/><Relationship Id="rId4" Type="http://schemas.openxmlformats.org/officeDocument/2006/relationships/hyperlink" Target="https://drive.google.com/file/d/1ZU4F7A09_CcfYEmxigHw13IOcQ6cDnFX/view?usp=sharing" TargetMode="External"/><Relationship Id="rId10" Type="http://schemas.openxmlformats.org/officeDocument/2006/relationships/hyperlink" Target="https://docs.google.com/spreadsheets/d/1syrjT8k2X6sjlGd7DZATuoQnt6cf4T9u/edit?usp=sharing&amp;ouid=118260803921871489982&amp;rtpof=true&amp;sd=true" TargetMode="External"/><Relationship Id="rId9" Type="http://schemas.openxmlformats.org/officeDocument/2006/relationships/hyperlink" Target="https://docs.google.com/spreadsheets/d/1syrjT8k2X6sjlGd7DZATuoQnt6cf4T9u/edit?usp=sharing&amp;ouid=118260803921871489982&amp;rtpof=true&amp;sd=true" TargetMode="External"/><Relationship Id="rId5" Type="http://schemas.openxmlformats.org/officeDocument/2006/relationships/hyperlink" Target="https://drive.google.com/file/d/1ZU4F7A09_CcfYEmxigHw13IOcQ6cDnFX/view?usp=sharing" TargetMode="External"/><Relationship Id="rId6" Type="http://schemas.openxmlformats.org/officeDocument/2006/relationships/hyperlink" Target="https://drive.google.com/file/d/19caIJcmtbtHX8r0h-ZC5UlkDq6Xz0U1T/view?usp=sharing" TargetMode="External"/><Relationship Id="rId7" Type="http://schemas.openxmlformats.org/officeDocument/2006/relationships/hyperlink" Target="https://drive.google.com/file/d/14RHLmHXnDMZOrzpXHeU-BYO3IiEK98VC/view?usp=sharing" TargetMode="External"/><Relationship Id="rId8" Type="http://schemas.openxmlformats.org/officeDocument/2006/relationships/hyperlink" Target="https://drive.google.com/file/d/19caIJcmtbtHX8r0h-ZC5UlkDq6Xz0U1T/view?usp=sharin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google.com/spreadsheets/d/1bj11DJO4QG4uWYDb5tyfhD5r08Qtyu_I/edit?usp=sharing&amp;ouid=118260803921871489982&amp;rtpof=true&amp;sd=true" TargetMode="External"/><Relationship Id="rId4" Type="http://schemas.openxmlformats.org/officeDocument/2006/relationships/hyperlink" Target="https://docs.google.com/spreadsheets/d/1o2Z1MTWZ6SelqFWvi6SbD-795ugbHDAQ/edit?usp=sharing&amp;ouid=118260803921871489982&amp;rtpof=true&amp;sd=true" TargetMode="External"/><Relationship Id="rId10" Type="http://schemas.openxmlformats.org/officeDocument/2006/relationships/hyperlink" Target="https://drive.google.com/file/d/1hvfT-e4ZL2g0enKzItSWb64uQQew3_7Y/view?usp=sharing" TargetMode="External"/><Relationship Id="rId9" Type="http://schemas.openxmlformats.org/officeDocument/2006/relationships/hyperlink" Target="https://drive.google.com/file/d/1hDhzVzTojgvuhka1_2xssCtAEzSQppfk/view?usp=sharing" TargetMode="External"/><Relationship Id="rId5" Type="http://schemas.openxmlformats.org/officeDocument/2006/relationships/hyperlink" Target="https://drive.google.com/file/d/1Sm05fzmaYRaINnSePTcBtTk4dh77l33J/view?usp=sharing" TargetMode="External"/><Relationship Id="rId6" Type="http://schemas.openxmlformats.org/officeDocument/2006/relationships/hyperlink" Target="https://docs.google.com/spreadsheets/d/1u6TOC1aF0mNUTvU1p9z3vh6c67gQzEI8/edit?usp=sharing&amp;ouid=118260803921871489982&amp;rtpof=true&amp;sd=true" TargetMode="External"/><Relationship Id="rId7" Type="http://schemas.openxmlformats.org/officeDocument/2006/relationships/hyperlink" Target="https://drive.google.com/file/d/1UPG3GbWfl_OXMyx2uOBWba9XyeDGam89/view?usp=sharing" TargetMode="External"/><Relationship Id="rId8" Type="http://schemas.openxmlformats.org/officeDocument/2006/relationships/hyperlink" Target="https://drive.google.com/file/d/1OoeFf2opJ0xJoGIEpZP-F3EzPz_N09eT/view?usp=sharing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ocs.google.com/spreadsheets/d/1gCVEZ2u-xZigxdcFNNsGvF7o2KXWamR7/edit?usp=sharing&amp;ouid=118260803921871489982&amp;rtpof=true&amp;sd=true" TargetMode="External"/><Relationship Id="rId4" Type="http://schemas.openxmlformats.org/officeDocument/2006/relationships/hyperlink" Target="https://docs.google.com/spreadsheets/d/1LP1jyXsRisNteF5CRL15w7r0_-2FoUQH/edit?usp=sharing&amp;ouid=118260803921871489982&amp;rtpof=true&amp;sd=true" TargetMode="External"/><Relationship Id="rId10" Type="http://schemas.openxmlformats.org/officeDocument/2006/relationships/hyperlink" Target="https://drive.google.com/file/d/1QB4UjupKDv7BoUF7s9-KeXlII9mNIgah/view?usp=sharing" TargetMode="External"/><Relationship Id="rId9" Type="http://schemas.openxmlformats.org/officeDocument/2006/relationships/hyperlink" Target="https://drive.google.com/file/d/1RI4jGpNheHhv_dNT-plVyVdPIw_a33Ol/view?usp=sharing" TargetMode="External"/><Relationship Id="rId5" Type="http://schemas.openxmlformats.org/officeDocument/2006/relationships/hyperlink" Target="https://drive.google.com/file/d/1DrFV5hd0HLUeCVs0mJKU9E2WYlOrwpTO/view?usp=sharing" TargetMode="External"/><Relationship Id="rId6" Type="http://schemas.openxmlformats.org/officeDocument/2006/relationships/hyperlink" Target="https://drive.google.com/file/d/1_ec45i_Nxe8lk3H-QtInuTwyEqaht4WE/view?usp=sharing" TargetMode="External"/><Relationship Id="rId7" Type="http://schemas.openxmlformats.org/officeDocument/2006/relationships/hyperlink" Target="https://drive.google.com/file/d/1931Jm5tcWL7TUj318CkmEcO0mg_NBVcp/view?usp=sharing" TargetMode="External"/><Relationship Id="rId8" Type="http://schemas.openxmlformats.org/officeDocument/2006/relationships/hyperlink" Target="https://docs.google.com/spreadsheets/d/1kz3mPiyHfW1PfPle_cAgNbx_CjCWLzH8/edit?usp=sharing&amp;ouid=118260803921871489982&amp;rtpof=true&amp;sd=tru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ocs.google.com/spreadsheets/d/1k0fz_LnbpEeGI9bz3YWLnjmwkW-tCB6f/edit?usp=sharing&amp;ouid=118260803921871489982&amp;rtpof=true&amp;sd=true" TargetMode="External"/><Relationship Id="rId4" Type="http://schemas.openxmlformats.org/officeDocument/2006/relationships/hyperlink" Target="https://docs.google.com/spreadsheets/d/1KthYZBfGEB7eCQNcKszwl0D7RIl2L08Z/edit?usp=sharing&amp;ouid=118260803921871489982&amp;rtpof=true&amp;sd=true" TargetMode="External"/><Relationship Id="rId10" Type="http://schemas.openxmlformats.org/officeDocument/2006/relationships/hyperlink" Target="https://drive.google.com/file/d/1GPOmiPqIH7NLhHkSmj5FDJ7z_nGG_wKh/view?usp=sharing" TargetMode="External"/><Relationship Id="rId9" Type="http://schemas.openxmlformats.org/officeDocument/2006/relationships/hyperlink" Target="https://drive.google.com/file/d/1SsEz9AokWlxpST_C8RQPU4ur8lghc3iT/view?usp=sharing" TargetMode="External"/><Relationship Id="rId5" Type="http://schemas.openxmlformats.org/officeDocument/2006/relationships/hyperlink" Target="https://drive.google.com/file/d/1K1vGbV6GHw1s428JWpbTwzOMiLb1NcPR/view?usp=sharing" TargetMode="External"/><Relationship Id="rId6" Type="http://schemas.openxmlformats.org/officeDocument/2006/relationships/hyperlink" Target="https://drive.google.com/file/d/113b11HQPFOuxmSwp00nZXA8k2EPtemAM/view?usp=sharing" TargetMode="External"/><Relationship Id="rId7" Type="http://schemas.openxmlformats.org/officeDocument/2006/relationships/hyperlink" Target="https://drive.google.com/file/d/1OdpNuY7iKe-kq5TtjV3RkJ_p65B9hmo6/view?usp=sharing" TargetMode="External"/><Relationship Id="rId8" Type="http://schemas.openxmlformats.org/officeDocument/2006/relationships/hyperlink" Target="https://drive.google.com/file/d/1sM3j7Hx_aq0Fedu5YELsy4ctKa3B1xrd/view?usp=shar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4602225" y="1394399"/>
            <a:ext cx="20541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</a:t>
            </a: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hashtags do they folow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Quality and High precision of the NFTs.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People who are interested in art  and detailing.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New york times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Artnet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Coindesk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BBc breaking news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CNN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Wired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Forbes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New york times arts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Techcrunch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Wall street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journal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mashable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Text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Influencer Insight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Podcast list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Social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Opensea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Discord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Founadation.app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Rarible.com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Objkt.com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Superrare.com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Linktr.ee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Knownorigin.io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Makersplace.com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Cointelegragh.com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Coindesk.com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Website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3"/>
          <p:cNvSpPr txBox="1"/>
          <p:nvPr/>
        </p:nvSpPr>
        <p:spPr>
          <a:xfrm>
            <a:off x="1562950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Mona lisa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Distribution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3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3"/>
          <p:cNvSpPr txBox="1"/>
          <p:nvPr/>
        </p:nvSpPr>
        <p:spPr>
          <a:xfrm>
            <a:off x="128825" y="4107499"/>
            <a:ext cx="2054100" cy="802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People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interested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 only in collecting NFT art and collections.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buys NFT for art rather than for its utility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3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Less than 1 %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3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3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High poly sculpted art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602225" y="1394399"/>
            <a:ext cx="205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are only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interested in showing off NFT collections in social media platforms.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interested in purchasing premium and luxury brand NFTs.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562950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Elite gangsters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28825" y="399560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Luxury brand collectors.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Social media influencers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Streamers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40%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AR app and brand collaboration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4921800" y="7484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Distributions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Podcast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Social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Press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Text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Influencer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Website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4602225" y="1394399"/>
            <a:ext cx="205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NFTs for gaming.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NFT only  for gaming.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do not want to invest heavily in NFTs but want to earn rewards.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Podcast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Youtube and Influencer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Press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Text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Social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Website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562950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Mortal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Distribution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28825" y="399560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are hardcore gamers and casual gamers.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Web 2.0 or Web 3.0 gamers who are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interested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 in gameplay and game experience.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20-30%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can get royalty passes to enjoy the gameplay rather than investing heavily on NFT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4602225" y="1394399"/>
            <a:ext cx="205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invest in NFT just to earn  profit by holding long term.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are not at all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interested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 in gameplay.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Text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562950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Whales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Distribution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128825" y="399560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Web 3.0 Investors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Dapp project investors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Defi enthusiasts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20-30%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6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are staking NFT will be air dropped royalty passes.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More Nft utility.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Podcast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Social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Press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Influencer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Website</a:t>
            </a: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7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17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4602225" y="1394399"/>
            <a:ext cx="205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7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with full understanding of web 3.0 games.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with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fundamental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knowledge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 in defi, metaverse and open world 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Podcast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Social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Press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Text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Influencer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Website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1562950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Game buddies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Distributions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128825" y="399560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Dedicated web 3.0 gamers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Defi gamers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Staking, renting and trading in secondary market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50-60%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Traditional gameplay integrated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with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blockchain technology.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8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18"/>
          <p:cNvSpPr txBox="1"/>
          <p:nvPr/>
        </p:nvSpPr>
        <p:spPr>
          <a:xfrm>
            <a:off x="4602225" y="1394399"/>
            <a:ext cx="205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18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18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18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AR application enthusiasts.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AR NFT crowd.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into VR/AR NFTs.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interested in integration of real world places in the 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gameplay</a:t>
            </a: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.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18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18"/>
          <p:cNvSpPr txBox="1"/>
          <p:nvPr/>
        </p:nvSpPr>
        <p:spPr>
          <a:xfrm>
            <a:off x="1562950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Future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Distributions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128825" y="399560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AR users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VR and console users.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18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18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30-400%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AR NFTs and AR app.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Mini- NFTs in AR.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Integration of real world places in game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Website</a:t>
            </a: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Text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Influencer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18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Podcast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Social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Press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9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19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19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19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4602225" y="1394399"/>
            <a:ext cx="205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19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Group of gamers or guilds.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Esports and contests.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1562950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Unix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19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128825" y="399560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Gaming guilds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Streamers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19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10%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19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Royalty pass and play 2 earn model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Distributions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Podcast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Social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Press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19"/>
          <p:cNvSpPr txBox="1"/>
          <p:nvPr/>
        </p:nvSpPr>
        <p:spPr>
          <a:xfrm>
            <a:off x="4602225" y="2269412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Text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Influencer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19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Website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0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20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20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0"/>
          <p:cNvSpPr txBox="1"/>
          <p:nvPr/>
        </p:nvSpPr>
        <p:spPr>
          <a:xfrm>
            <a:off x="4602225" y="1394399"/>
            <a:ext cx="205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just flip NFTs.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Short term crowd.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Users who are not interested in games.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Only for investment purpose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20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0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1603175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Dumpsters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128825" y="399560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Yield farmers.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Pump and Dump crowd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10%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latin typeface="Montserrat"/>
                <a:ea typeface="Montserrat"/>
                <a:cs typeface="Montserrat"/>
                <a:sym typeface="Montserrat"/>
              </a:rPr>
              <a:t>Royalty passes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Distributions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Podcast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Social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Press Insight</a:t>
            </a:r>
            <a:endParaRPr b="1"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Text Insights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Influencer Insight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10"/>
              </a:rPr>
              <a:t>Website</a:t>
            </a:r>
            <a:r>
              <a:rPr b="1" lang="en-GB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/>
          <p:nvPr/>
        </p:nvSpPr>
        <p:spPr>
          <a:xfrm>
            <a:off x="15370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6871400" y="1388325"/>
            <a:ext cx="2054100" cy="6696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4602225" y="138517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2333050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128825" y="1388325"/>
            <a:ext cx="2054100" cy="8022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21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rgbClr val="002333"/>
                </a:solidFill>
                <a:latin typeface="Montserrat"/>
                <a:ea typeface="Montserrat"/>
                <a:cs typeface="Montserrat"/>
                <a:sym typeface="Montserrat"/>
              </a:rPr>
              <a:t>User Persona</a:t>
            </a:r>
            <a:endParaRPr b="1" sz="2300">
              <a:solidFill>
                <a:srgbClr val="FF8F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128825" y="1388325"/>
            <a:ext cx="2054100" cy="8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2333"/>
                </a:solidFill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Needs and Goals</a:t>
            </a:r>
            <a:endParaRPr b="1" sz="1100">
              <a:solidFill>
                <a:srgbClr val="002333"/>
              </a:solidFill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Why persona uses your product?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problems or needs do they have that your product might address?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21"/>
          <p:cNvSpPr txBox="1"/>
          <p:nvPr/>
        </p:nvSpPr>
        <p:spPr>
          <a:xfrm>
            <a:off x="2333050" y="1417651"/>
            <a:ext cx="20541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PASSION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types of blogs, articles and content they are interested in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21"/>
          <p:cNvSpPr txBox="1"/>
          <p:nvPr/>
        </p:nvSpPr>
        <p:spPr>
          <a:xfrm>
            <a:off x="4602225" y="1394399"/>
            <a:ext cx="2054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Behaviours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products do they use?</a:t>
            </a:r>
            <a:b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influences their purchase decision?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21"/>
          <p:cNvSpPr txBox="1"/>
          <p:nvPr/>
        </p:nvSpPr>
        <p:spPr>
          <a:xfrm>
            <a:off x="6871400" y="1385176"/>
            <a:ext cx="20541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highlight>
                  <a:srgbClr val="00E677"/>
                </a:highlight>
                <a:latin typeface="Montserrat"/>
                <a:ea typeface="Montserrat"/>
                <a:cs typeface="Montserrat"/>
                <a:sym typeface="Montserrat"/>
              </a:rPr>
              <a:t>Personality Type</a:t>
            </a:r>
            <a:endParaRPr b="1" sz="1100">
              <a:highlight>
                <a:srgbClr val="00E677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>
                <a:solidFill>
                  <a:srgbClr val="F8F8F8"/>
                </a:solidFill>
                <a:latin typeface="Montserrat"/>
                <a:ea typeface="Montserrat"/>
                <a:cs typeface="Montserrat"/>
                <a:sym typeface="Montserrat"/>
              </a:rPr>
              <a:t>What websites they visit what hashtags they follow?</a:t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F8F8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179950" y="672250"/>
            <a:ext cx="129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Name &amp; Age</a:t>
            </a:r>
            <a:endParaRPr b="1" sz="8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128825" y="230425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2333050" y="2304250"/>
            <a:ext cx="2054100" cy="1501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602225" y="2304250"/>
            <a:ext cx="2054100" cy="2161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6871400" y="2190449"/>
            <a:ext cx="2054100" cy="27192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1562950" y="672250"/>
            <a:ext cx="17781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3512550" y="650350"/>
            <a:ext cx="13182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Demographics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921800" y="672250"/>
            <a:ext cx="39105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128800" y="34080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Jobs and Interest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128825" y="3995606"/>
            <a:ext cx="2054100" cy="9141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21"/>
          <p:cNvSpPr/>
          <p:nvPr/>
        </p:nvSpPr>
        <p:spPr>
          <a:xfrm>
            <a:off x="4602225" y="4582325"/>
            <a:ext cx="9336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Percentage of users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5612325" y="4582400"/>
            <a:ext cx="1044000" cy="3540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2333050" y="3919475"/>
            <a:ext cx="2054100" cy="397800"/>
          </a:xfrm>
          <a:prstGeom prst="roundRect">
            <a:avLst>
              <a:gd fmla="val 16667" name="adj"/>
            </a:avLst>
          </a:prstGeom>
          <a:solidFill>
            <a:srgbClr val="00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00E677"/>
                </a:solidFill>
                <a:latin typeface="Montserrat"/>
                <a:ea typeface="Montserrat"/>
                <a:cs typeface="Montserrat"/>
                <a:sym typeface="Montserrat"/>
              </a:rPr>
              <a:t>Why will they purchase your product</a:t>
            </a:r>
            <a:endParaRPr b="1" sz="900">
              <a:solidFill>
                <a:srgbClr val="00E6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2333050" y="4431000"/>
            <a:ext cx="2054100" cy="505500"/>
          </a:xfrm>
          <a:prstGeom prst="rect">
            <a:avLst/>
          </a:prstGeom>
          <a:noFill/>
          <a:ln cap="flat" cmpd="sng" w="9525">
            <a:solidFill>
              <a:srgbClr val="00E67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